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Arial"/>
              </a:rPr>
              <a:t>recall@K pe metodă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recall@1</c:v>
                </c:pt>
              </c:strCache>
            </c:strRef>
          </c:tx>
          <c:spPr>
            <a:solidFill>
              <a:srgbClr val="9AA5B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Cuvinte-cheie</c:v>
                  </c:pt>
                  <c:pt idx="1">
                    <c:v>TF-IDF</c:v>
                  </c:pt>
                  <c:pt idx="2">
                    <c:v>LSA</c:v>
                  </c:pt>
                  <c:pt idx="3">
                    <c:v>Combinat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0.5</c:v>
                </c:pt>
                <c:pt idx="1">
                  <c:v>0.775</c:v>
                </c:pt>
                <c:pt idx="2">
                  <c:v>0.825</c:v>
                </c:pt>
                <c:pt idx="3">
                  <c:v>0.85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recall@3</c:v>
                </c:pt>
              </c:strCache>
            </c:strRef>
          </c:tx>
          <c:spPr>
            <a:solidFill>
              <a:srgbClr val="4A7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Cuvinte-cheie</c:v>
                  </c:pt>
                  <c:pt idx="1">
                    <c:v>TF-IDF</c:v>
                  </c:pt>
                  <c:pt idx="2">
                    <c:v>LSA</c:v>
                  </c:pt>
                  <c:pt idx="3">
                    <c:v>Combinat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0.675</c:v>
                </c:pt>
                <c:pt idx="1">
                  <c:v>0.95</c:v>
                </c:pt>
                <c:pt idx="2">
                  <c:v>0.925</c:v>
                </c:pt>
                <c:pt idx="3">
                  <c:v>0.95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recall@5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Cuvinte-cheie</c:v>
                  </c:pt>
                  <c:pt idx="1">
                    <c:v>TF-IDF</c:v>
                  </c:pt>
                  <c:pt idx="2">
                    <c:v>LSA</c:v>
                  </c:pt>
                  <c:pt idx="3">
                    <c:v>Combinat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0.8</c:v>
                </c:pt>
                <c:pt idx="1">
                  <c:v>0.975</c:v>
                </c:pt>
                <c:pt idx="2">
                  <c:v>0.975</c:v>
                </c:pt>
                <c:pt idx="3">
                  <c:v>0.975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33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333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5E9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Proiect realizat conform Ghidului de practică CTI 2026, Tema 3. Prezentarea durează aproximativ 8 minute plus demonstrația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Motivația: întrebările administrative sunt repetitive, dar formulate foarte variat. Sistemul regăsește răspunsuri existente, nu generează text nou – deci nu inventează informații.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Categoriile: secretariat, examene, burse, cazare, taxe, studii, practică, licență, e-learning, Erasmus. Testele sunt scrise fără diacritice, exact cum tastează utilizatorii.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Punct bun pentru a comuta pe demonstrația live: streamlit run app.py. Arătați și cazul „nu știu” – o întrebare din afara domeniului.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Toate cele trei metode rulează local, fără modele descărcate. SBERT este implementat în cod ca extensie, necesită descărcarea unui model de ~470 MB.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recall@K = proporția întrebărilor pentru care răspunsul corect apare în primele K rezultate. TF-IDF are recall@3 ușor mai bun; LSA are cel mai bun recall@1 și MRR. Rezultate reproductibile cu python src/evaluate.py.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Trei tipare de eroare. Sinonimia totală este limita fundamentală a metodelor lexicale – argumentul principal pentru varianta SBERT. Afișarea top-3 în interfață acoperă majoritatea inversărilor de rang.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Închidere: reluați cifra-cheie (recall@1 de la 0.50 la 0.83) și invitați la întrebări / demonstrație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60120"/>
            <a:ext cx="1234440" cy="566928"/>
          </a:xfrm>
          <a:prstGeom prst="roundRect">
            <a:avLst>
              <a:gd name="adj" fmla="val 19355"/>
            </a:avLst>
          </a:prstGeom>
          <a:solidFill>
            <a:srgbClr val="CADCF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60120"/>
            <a:ext cx="1234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Q&amp;A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1737360"/>
            <a:ext cx="8229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Chatbot Q&amp;A pentru întrebări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frecvente ale studenților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32918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căutarea prin cuvinte-cheie la căutarea semantică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4069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Malina-Hanțig David  ·  Anul II, Calculatoare (licență)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Practică CTI 2026  ·  Tema 3  ·  Python · scikit-learn · Streamlit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216152"/>
            <a:ext cx="685800" cy="685800"/>
          </a:xfrm>
          <a:prstGeom prst="ellipse">
            <a:avLst/>
          </a:prstGeom>
          <a:solidFill>
            <a:srgbClr val="F4F7F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216152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E2761"/>
                </a:solidFill>
              </a:rPr>
              <a:t>❓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371600" y="11430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Aceleași întrebări, formulări diferite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371600" y="1527048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„Cum vorbesc cu tutorele de an?” vs. „Cum pot lua legătura cu îndrumătorul de an?”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450592"/>
            <a:ext cx="685800" cy="685800"/>
          </a:xfrm>
          <a:prstGeom prst="ellipse">
            <a:avLst/>
          </a:prstGeom>
          <a:solidFill>
            <a:srgbClr val="F4F7FC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450592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E2761"/>
                </a:solidFill>
              </a:rPr>
              <a:t>⏱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371600" y="23774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Timp pierdut de studenți și secretariat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371600" y="2761488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Răspunsurile există în regulamente, dar găsirea lor cere timp și e-mailuri repetate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685032"/>
            <a:ext cx="685800" cy="685800"/>
          </a:xfrm>
          <a:prstGeom prst="ellipse">
            <a:avLst/>
          </a:prstGeom>
          <a:solidFill>
            <a:srgbClr val="F4F7F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85032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E2761"/>
                </a:solidFill>
              </a:rPr>
              <a:t>🎯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371600" y="36118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Obiectivul proiectului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371600" y="3995928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chatbot care primește o întrebare liberă și regăsește cel mai potrivit răspuns din FAQ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Datele utilizate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1554480"/>
          </a:xfrm>
          <a:prstGeom prst="roundRect">
            <a:avLst>
              <a:gd name="adj" fmla="val 7059"/>
            </a:avLst>
          </a:prstGeom>
          <a:solidFill>
            <a:srgbClr val="F4F7F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234440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457200" y="201168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întrebări + răspunsuri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A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în baza de cunoștințe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291840" y="1097280"/>
            <a:ext cx="2606040" cy="1554480"/>
          </a:xfrm>
          <a:prstGeom prst="roundRect">
            <a:avLst>
              <a:gd name="adj" fmla="val 7059"/>
            </a:avLst>
          </a:prstGeom>
          <a:solidFill>
            <a:srgbClr val="F4F7FC"/>
          </a:solidFill>
          <a:ln/>
        </p:spPr>
      </p:sp>
      <p:sp>
        <p:nvSpPr>
          <p:cNvPr id="7" name="Text 5"/>
          <p:cNvSpPr/>
          <p:nvPr/>
        </p:nvSpPr>
        <p:spPr>
          <a:xfrm>
            <a:off x="3291840" y="1234440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3291840" y="201168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categorii tematice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126480" y="1097280"/>
            <a:ext cx="2606040" cy="1554480"/>
          </a:xfrm>
          <a:prstGeom prst="roundRect">
            <a:avLst>
              <a:gd name="adj" fmla="val 7059"/>
            </a:avLst>
          </a:prstGeom>
          <a:solidFill>
            <a:srgbClr val="F4F7FC"/>
          </a:solidFill>
          <a:ln/>
        </p:spPr>
      </p:sp>
      <p:sp>
        <p:nvSpPr>
          <p:cNvPr id="10" name="Text 8"/>
          <p:cNvSpPr/>
          <p:nvPr/>
        </p:nvSpPr>
        <p:spPr>
          <a:xfrm>
            <a:off x="6126480" y="1234440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5200" dirty="0"/>
          </a:p>
        </p:txBody>
      </p:sp>
      <p:sp>
        <p:nvSpPr>
          <p:cNvPr id="11" name="Text 9"/>
          <p:cNvSpPr/>
          <p:nvPr/>
        </p:nvSpPr>
        <p:spPr>
          <a:xfrm>
            <a:off x="6126480" y="201168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parafraze de test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A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(nevăzute de sistem)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57200" y="288036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Construite manual pentru proiect: </a:t>
            </a:r>
            <a:pPr indent="0" marL="0">
              <a:buNone/>
            </a:pPr>
            <a:r>
              <a:rPr lang="en-US" sz="1400" dirty="0">
                <a:solidFill>
                  <a:srgbClr val="5A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faq.csv (id, categorie, întrebare, răspuns) – conținut generic inspirat din regulamentele facultăților tehnice; intrebari_test.csv – reformulări realiste, fără diacritice, cu sinonime.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" y="3794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Separare corectă a datelor: </a:t>
            </a:r>
            <a:pPr indent="0" marL="0">
              <a:buNone/>
            </a:pPr>
            <a:r>
              <a:rPr lang="en-US" sz="1400" dirty="0">
                <a:solidFill>
                  <a:srgbClr val="5A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indexul se construiește doar din FAQ; întrebările de test sunt folosite exclusiv la evaluare.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Fluxul aplicației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20040" y="1554480"/>
            <a:ext cx="1572768" cy="1051560"/>
          </a:xfrm>
          <a:prstGeom prst="roundRect">
            <a:avLst>
              <a:gd name="adj" fmla="val 8696"/>
            </a:avLst>
          </a:prstGeom>
          <a:solidFill>
            <a:srgbClr val="F4F7FC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1554480"/>
            <a:ext cx="1572768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Întrebarea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utilizatorului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856232" y="1783080"/>
            <a:ext cx="292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A7FB5"/>
                </a:solidFill>
              </a:rPr>
              <a:t>→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2103120" y="1554480"/>
            <a:ext cx="1572768" cy="1051560"/>
          </a:xfrm>
          <a:prstGeom prst="roundRect">
            <a:avLst>
              <a:gd name="adj" fmla="val 8696"/>
            </a:avLst>
          </a:prstGeom>
          <a:solidFill>
            <a:srgbClr val="F4F7FC"/>
          </a:solidFill>
          <a:ln/>
        </p:spPr>
      </p:sp>
      <p:sp>
        <p:nvSpPr>
          <p:cNvPr id="7" name="Text 5"/>
          <p:cNvSpPr/>
          <p:nvPr/>
        </p:nvSpPr>
        <p:spPr>
          <a:xfrm>
            <a:off x="2103120" y="1554480"/>
            <a:ext cx="1572768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Normalizare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(diacritice, punctuație)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39312" y="1783080"/>
            <a:ext cx="292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A7FB5"/>
                </a:solidFill>
              </a:rPr>
              <a:t>→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3886200" y="1554480"/>
            <a:ext cx="1572768" cy="1051560"/>
          </a:xfrm>
          <a:prstGeom prst="roundRect">
            <a:avLst>
              <a:gd name="adj" fmla="val 8696"/>
            </a:avLst>
          </a:prstGeom>
          <a:solidFill>
            <a:srgbClr val="F4F7FC"/>
          </a:solidFill>
          <a:ln/>
        </p:spPr>
      </p:sp>
      <p:sp>
        <p:nvSpPr>
          <p:cNvPr id="10" name="Text 8"/>
          <p:cNvSpPr/>
          <p:nvPr/>
        </p:nvSpPr>
        <p:spPr>
          <a:xfrm>
            <a:off x="3886200" y="1554480"/>
            <a:ext cx="1572768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Vectorizare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/ LSA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22392" y="1783080"/>
            <a:ext cx="292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A7FB5"/>
                </a:solidFill>
              </a:rPr>
              <a:t>→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669280" y="1554480"/>
            <a:ext cx="1572768" cy="1051560"/>
          </a:xfrm>
          <a:prstGeom prst="roundRect">
            <a:avLst>
              <a:gd name="adj" fmla="val 8696"/>
            </a:avLst>
          </a:prstGeom>
          <a:solidFill>
            <a:srgbClr val="F4F7FC"/>
          </a:solidFill>
          <a:ln/>
        </p:spPr>
      </p:sp>
      <p:sp>
        <p:nvSpPr>
          <p:cNvPr id="13" name="Text 11"/>
          <p:cNvSpPr/>
          <p:nvPr/>
        </p:nvSpPr>
        <p:spPr>
          <a:xfrm>
            <a:off x="5669280" y="1554480"/>
            <a:ext cx="1572768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Similaritate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cosinus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205472" y="1783080"/>
            <a:ext cx="292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A7FB5"/>
                </a:solidFill>
              </a:rPr>
              <a:t>→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7452360" y="1554480"/>
            <a:ext cx="1572768" cy="1051560"/>
          </a:xfrm>
          <a:prstGeom prst="roundRect">
            <a:avLst>
              <a:gd name="adj" fmla="val 8696"/>
            </a:avLst>
          </a:prstGeom>
          <a:solidFill>
            <a:srgbClr val="1E2761"/>
          </a:solidFill>
          <a:ln/>
        </p:spPr>
      </p:sp>
      <p:sp>
        <p:nvSpPr>
          <p:cNvPr id="16" name="Text 14"/>
          <p:cNvSpPr/>
          <p:nvPr/>
        </p:nvSpPr>
        <p:spPr>
          <a:xfrm>
            <a:off x="7452360" y="1554480"/>
            <a:ext cx="1572768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Top-3 răspunsuri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scor de încredere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063240"/>
            <a:ext cx="8229600" cy="1417320"/>
          </a:xfrm>
          <a:prstGeom prst="roundRect">
            <a:avLst>
              <a:gd name="adj" fmla="val 6452"/>
            </a:avLst>
          </a:prstGeom>
          <a:solidFill>
            <a:srgbClr val="F4F7FC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200400"/>
            <a:ext cx="7772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Interfața (Streamlit):  </a:t>
            </a:r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conversație de tip chat, alegerea metodei de căutare, răspunsuri alternative într-un panou extensibil. Sub pragul de încredere, chatbotul recunoaște că nu știe și recomandă secretariatul.
</a:t>
            </a:r>
            <a:pPr indent="0" marL="0">
              <a:buNone/>
            </a:pPr>
            <a:r>
              <a:rPr lang="en-US" sz="1400" i="1" dirty="0">
                <a:solidFill>
                  <a:srgbClr val="5A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Alternativ: demonstrație în linia de comandă (python src/demo.py).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Patru metode, de la simplu la combinat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" y="1143000"/>
            <a:ext cx="2011680" cy="2651760"/>
          </a:xfrm>
          <a:prstGeom prst="roundRect">
            <a:avLst>
              <a:gd name="adj" fmla="val 5455"/>
            </a:avLst>
          </a:prstGeom>
          <a:solidFill>
            <a:srgbClr val="F4F7FC"/>
          </a:solidFill>
          <a:ln/>
        </p:spPr>
      </p:sp>
      <p:sp>
        <p:nvSpPr>
          <p:cNvPr id="4" name="Text 2"/>
          <p:cNvSpPr/>
          <p:nvPr/>
        </p:nvSpPr>
        <p:spPr>
          <a:xfrm>
            <a:off x="512064" y="132588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Cuvinte-cheie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12064" y="18745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varianta de bază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12064" y="2194560"/>
            <a:ext cx="17373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Similaritate Jaccard pe mulțimi de cuvinte. Rapidă și interpretabilă, dar cere potriviri exacte.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514600" y="1143000"/>
            <a:ext cx="2011680" cy="2651760"/>
          </a:xfrm>
          <a:prstGeom prst="roundRect">
            <a:avLst>
              <a:gd name="adj" fmla="val 5455"/>
            </a:avLst>
          </a:prstGeom>
          <a:solidFill>
            <a:srgbClr val="F4F7FC"/>
          </a:solidFill>
          <a:ln/>
        </p:spPr>
      </p:sp>
      <p:sp>
        <p:nvSpPr>
          <p:cNvPr id="8" name="Text 6"/>
          <p:cNvSpPr/>
          <p:nvPr/>
        </p:nvSpPr>
        <p:spPr>
          <a:xfrm>
            <a:off x="2660904" y="132588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TF-IDF + cosinus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660904" y="18745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îmbunătățirea 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660904" y="2194560"/>
            <a:ext cx="17373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Cuvinte (1–2 gr.) + n-grame de caractere (3–5): robustețe la flexiuni și greșeli de tastare.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663440" y="1143000"/>
            <a:ext cx="2011680" cy="2651760"/>
          </a:xfrm>
          <a:prstGeom prst="roundRect">
            <a:avLst>
              <a:gd name="adj" fmla="val 5455"/>
            </a:avLst>
          </a:prstGeom>
          <a:solidFill>
            <a:srgbClr val="F4F7FC"/>
          </a:solidFill>
          <a:ln/>
        </p:spPr>
      </p:sp>
      <p:sp>
        <p:nvSpPr>
          <p:cNvPr id="12" name="Text 10"/>
          <p:cNvSpPr/>
          <p:nvPr/>
        </p:nvSpPr>
        <p:spPr>
          <a:xfrm>
            <a:off x="4809744" y="132588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Semantic (LSA)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809744" y="18745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îmbunătățirea 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809744" y="2194560"/>
            <a:ext cx="17373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proiectat cu TruncatedSVD în 30 dim. latente → embeddings; potrivire fără cuvinte comune.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812280" y="1143000"/>
            <a:ext cx="2011680" cy="2651760"/>
          </a:xfrm>
          <a:prstGeom prst="roundRect">
            <a:avLst>
              <a:gd name="adj" fmla="val 5455"/>
            </a:avLst>
          </a:prstGeom>
          <a:solidFill>
            <a:srgbClr val="1E2761"/>
          </a:solidFill>
          <a:ln/>
        </p:spPr>
      </p:sp>
      <p:sp>
        <p:nvSpPr>
          <p:cNvPr id="16" name="Text 14"/>
          <p:cNvSpPr/>
          <p:nvPr/>
        </p:nvSpPr>
        <p:spPr>
          <a:xfrm>
            <a:off x="6958584" y="132588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Combinat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958584" y="18745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îmbunătățirea 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958584" y="2194560"/>
            <a:ext cx="17373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ponderată a scorurilor (0.2/0.4/0.4): metodele greșesc diferit și se corectează reciproc.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57200" y="4069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extensie opțională: embeddings neuronale multilingve (sentence-transformers, SBERT)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Rezultate pe 40 de întrebări de test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365760" y="1051560"/>
          <a:ext cx="512064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5760720" y="1097280"/>
            <a:ext cx="2926080" cy="1417320"/>
          </a:xfrm>
          <a:prstGeom prst="roundRect">
            <a:avLst>
              <a:gd name="adj" fmla="val 6452"/>
            </a:avLst>
          </a:prstGeom>
          <a:solidFill>
            <a:srgbClr val="F4F7FC"/>
          </a:solidFill>
          <a:ln/>
        </p:spPr>
      </p:sp>
      <p:sp>
        <p:nvSpPr>
          <p:cNvPr id="5" name="Text 2"/>
          <p:cNvSpPr/>
          <p:nvPr/>
        </p:nvSpPr>
        <p:spPr>
          <a:xfrm>
            <a:off x="5760720" y="12344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0.50 → 0.85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5760720" y="17830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recall@1: +70% relativ față de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varianta de bază (20/40 → 34/40)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760720" y="2697480"/>
            <a:ext cx="2926080" cy="914400"/>
          </a:xfrm>
          <a:prstGeom prst="roundRect">
            <a:avLst>
              <a:gd name="adj" fmla="val 10000"/>
            </a:avLst>
          </a:prstGeom>
          <a:solidFill>
            <a:srgbClr val="F4F7FC"/>
          </a:solidFill>
          <a:ln/>
        </p:spPr>
      </p:sp>
      <p:sp>
        <p:nvSpPr>
          <p:cNvPr id="8" name="Text 5"/>
          <p:cNvSpPr/>
          <p:nvPr/>
        </p:nvSpPr>
        <p:spPr>
          <a:xfrm>
            <a:off x="5760720" y="269748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MRR 0.90</a:t>
            </a:r>
            <a:pPr algn="ctr" indent="0" marL="0">
              <a:buNone/>
            </a:pPr>
            <a:r>
              <a:rPr lang="en-US" sz="1200" dirty="0">
                <a:solidFill>
                  <a:srgbClr val="5A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&lt; 10 ms / întrebare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5760720" y="379476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A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39/40 întrebări rezolvate în primele 5 rezultate; metoda combinată câștigă prin vot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greșește sistemul – și de ce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8696"/>
            </a:avLst>
          </a:prstGeom>
          <a:solidFill>
            <a:srgbClr val="F4F7FC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207008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Sinonimie totală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2880360" y="1207008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„Cum imi fac mailul de student?” → răspuns despre adeverințe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355080" y="1207008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A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niciun termen comun cu „e-mail instituțional”; rezolvabil cu SBERT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2304288"/>
            <a:ext cx="8229600" cy="1051560"/>
          </a:xfrm>
          <a:prstGeom prst="roundRect">
            <a:avLst>
              <a:gd name="adj" fmla="val 8696"/>
            </a:avLst>
          </a:prstGeom>
          <a:solidFill>
            <a:srgbClr val="EEF2F8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2414016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Categorii dense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2880360" y="2414016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„Trebuie neaparat sa fac practica?” → alt răspuns despre practică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355080" y="2414016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A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întrebările din aceeași categorie sunt foarte apropiate; corectul apare în top 3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511296"/>
            <a:ext cx="8229600" cy="1051560"/>
          </a:xfrm>
          <a:prstGeom prst="roundRect">
            <a:avLst>
              <a:gd name="adj" fmla="val 8696"/>
            </a:avLst>
          </a:prstGeom>
          <a:solidFill>
            <a:srgbClr val="F4F7FC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3621024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Formulări indirecte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880360" y="3621024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„De cate ori pot da examen fara sa platesc?” → contestații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355080" y="3621024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A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interogarea descrie situația fără termenul-cheie „prezentări”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Analiza completă, per întrebare și per metodă: reports/rezultate/detalii_*.csv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Concluzii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Lanț complet de proiect ML: date proprii → variantă de bază → trei îmbunătățiri → evaluare → analiza erorilor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Metoda combinată (medie ponderată a celor trei) rezolvă 34/40 din prima (față de 20/40 la bază)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Aplicație funcțională (Streamlit + CLI), reproductibilă: README, requirements.txt, o comandă pentru evaluare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3063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Direcții următoare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342900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Evaluarea variantei SBERT  ·  indexare FAISS la scară  ·  reformularea răspunsului cu un model generativ  ·  extinderea FAQ din întrebări reale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4480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Mulțumesc!  ·  Demonstrație: streamlit run app.py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2026-07-30T17:03:59Z</dcterms:created>
  <dcterms:modified xsi:type="dcterms:W3CDTF">2026-07-30T17:03:59Z</dcterms:modified>
</cp:coreProperties>
</file>